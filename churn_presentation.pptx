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200400"/>
            <a:ext cx="2560320" cy="2560320"/>
          </a:xfrm>
          <a:prstGeom prst="ellipse">
            <a:avLst/>
          </a:prstGeom>
          <a:solidFill>
            <a:srgbClr val="E11D48">
              <a:alpha val="10000"/>
            </a:srgbClr>
          </a:solidFill>
          <a:ln w="12700">
            <a:solidFill>
              <a:srgbClr val="E11D4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200400"/>
            <a:ext cx="2286000" cy="22860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731520"/>
            <a:ext cx="2377440" cy="301752"/>
          </a:xfrm>
          <a:prstGeom prst="roundRect">
            <a:avLst>
              <a:gd name="adj" fmla="val 2424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3152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DATA ANALYTICS  · 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Real bank transaction data · 3 ML models · Business retention strategy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041648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32036">
              <a:alpha val="75000"/>
            </a:srgbClr>
          </a:solidFill>
          <a:ln w="889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7822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28,382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4480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Clients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60904" y="4041648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32036">
              <a:alpha val="75000"/>
            </a:srgbClr>
          </a:solidFill>
          <a:ln w="889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60904" y="407822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60904" y="4480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Churn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18888" y="4041648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32036">
              <a:alpha val="75000"/>
            </a:srgbClr>
          </a:solidFill>
          <a:ln w="8890">
            <a:solidFill>
              <a:srgbClr val="5EEA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407822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18888" y="4480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Best AUC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76872" y="4041648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32036">
              <a:alpha val="75000"/>
            </a:srgbClr>
          </a:solidFill>
          <a:ln w="8890">
            <a:solidFill>
              <a:srgbClr val="5EEA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76872" y="407822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76872" y="4480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ML Models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5544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55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DATASET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512064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01168" y="123444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" y="1307592"/>
            <a:ext cx="2743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28,382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01168" y="1817827"/>
            <a:ext cx="27432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Total Clients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" y="2359152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" y="2432304"/>
            <a:ext cx="2743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5,260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01168" y="2942539"/>
            <a:ext cx="27432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Churned  (18.5%)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1168" y="3483864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1168" y="3557016"/>
            <a:ext cx="27432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01168" y="4067251"/>
            <a:ext cx="27432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Features After Engineering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46120" y="1234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Key Variables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46120" y="1673352"/>
            <a:ext cx="5669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673352"/>
            <a:ext cx="457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7099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age, gender, occupation, city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95160" y="17099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Demographics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2075688"/>
            <a:ext cx="5669280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2075688"/>
            <a:ext cx="457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1122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current_balance, avg_monthly_balance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95160" y="21122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Account state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2478024"/>
            <a:ext cx="5669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2478024"/>
            <a:ext cx="457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current / prev month credit &amp; debit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95160" y="2514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Transaction activity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46120" y="2880360"/>
            <a:ext cx="5669280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2880360"/>
            <a:ext cx="45720" cy="3840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9169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days_since_last_tx  ★ engineered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95160" y="29169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Recency signal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3282696"/>
            <a:ext cx="5669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46120" y="3282696"/>
            <a:ext cx="45720" cy="3840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3192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balance_change, avg_balance_trend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95160" y="33192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Balance momentum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46120" y="3685032"/>
            <a:ext cx="5669280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3685032"/>
            <a:ext cx="457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37216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low_balance_flag, credit_debit_ratio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95160" y="37216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Engineered flags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46120" y="4087368"/>
            <a:ext cx="5669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46120" y="4087368"/>
            <a:ext cx="4572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41239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vintage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95160" y="41239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Tenure at bank (days)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46120" y="4489704"/>
            <a:ext cx="5669280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46120" y="4489704"/>
            <a:ext cx="45720" cy="3840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4526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churn  (0=stayed / 1=left)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995160" y="4526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Target variable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3200400" cy="32004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ML PIPELINE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1152144" cy="3337560"/>
          </a:xfrm>
          <a:prstGeom prst="roundRect">
            <a:avLst>
              <a:gd name="adj" fmla="val 7937"/>
            </a:avLst>
          </a:prstGeom>
          <a:solidFill>
            <a:srgbClr val="132036">
              <a:alpha val="80000"/>
            </a:srgbClr>
          </a:solidFill>
          <a:ln w="762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" y="2121408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5176" y="2578608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EEAD4"/>
                </a:solidFill>
              </a:rPr>
              <a:t>Raw 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5176" y="3063240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28,382 clients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5176" y="3493008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21 columns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5176" y="3922776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CSV file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89888" y="3081528"/>
            <a:ext cx="82296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371600" y="299923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</a:rPr>
              <a:t>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72184" y="1417320"/>
            <a:ext cx="1152144" cy="3337560"/>
          </a:xfrm>
          <a:prstGeom prst="roundRect">
            <a:avLst>
              <a:gd name="adj" fmla="val 7937"/>
            </a:avLst>
          </a:prstGeom>
          <a:solidFill>
            <a:srgbClr val="132036">
              <a:alpha val="80000"/>
            </a:srgbClr>
          </a:solidFill>
          <a:ln w="762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10512" y="155448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0512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72184" y="2121408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2578608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EEAD4"/>
                </a:solidFill>
              </a:rPr>
              <a:t>Cleaning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08760" y="3063240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Drop IDs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08760" y="3493008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Impute NaN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08760" y="3922776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Date→integer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33472" y="3081528"/>
            <a:ext cx="82296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2615184" y="299923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</a:rPr>
              <a:t>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15768" y="1417320"/>
            <a:ext cx="1152144" cy="3337560"/>
          </a:xfrm>
          <a:prstGeom prst="roundRect">
            <a:avLst>
              <a:gd name="adj" fmla="val 7937"/>
            </a:avLst>
          </a:prstGeom>
          <a:solidFill>
            <a:srgbClr val="132036">
              <a:alpha val="80000"/>
            </a:srgbClr>
          </a:solidFill>
          <a:ln w="762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54096" y="155448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54096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715768" y="2121408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752344" y="2578608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EEAD4"/>
                </a:solidFill>
              </a:rPr>
              <a:t>Feature Eng.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52344" y="3063240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6 new features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52344" y="3493008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Label encode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52344" y="3922776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NaN sweep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77056" y="3081528"/>
            <a:ext cx="82296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3858768" y="299923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</a:rPr>
              <a:t>›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959352" y="1417320"/>
            <a:ext cx="1152144" cy="3337560"/>
          </a:xfrm>
          <a:prstGeom prst="roundRect">
            <a:avLst>
              <a:gd name="adj" fmla="val 7937"/>
            </a:avLst>
          </a:prstGeom>
          <a:solidFill>
            <a:srgbClr val="132036">
              <a:alpha val="80000"/>
            </a:srgbClr>
          </a:solidFill>
          <a:ln w="762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0" y="155448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959352" y="2121408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✂️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995928" y="2578608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EEAD4"/>
                </a:solidFill>
              </a:rPr>
              <a:t>Split 70/15/15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995928" y="3063240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Train 19,867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995928" y="3493008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Val 4,257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995928" y="3922776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Test 4,258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120640" y="3081528"/>
            <a:ext cx="82296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5102352" y="299923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</a:rPr>
              <a:t>›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202936" y="1417320"/>
            <a:ext cx="1152144" cy="3337560"/>
          </a:xfrm>
          <a:prstGeom prst="roundRect">
            <a:avLst>
              <a:gd name="adj" fmla="val 7937"/>
            </a:avLst>
          </a:prstGeom>
          <a:solidFill>
            <a:srgbClr val="132036">
              <a:alpha val="80000"/>
            </a:srgbClr>
          </a:solidFill>
          <a:ln w="762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41264" y="155448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41264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202936" y="2121408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239512" y="2578608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EEAD4"/>
                </a:solidFill>
              </a:rPr>
              <a:t>3 ML Models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239512" y="3063240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LR Pipeline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239512" y="3493008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Random Forest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239512" y="3922776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Grad. Boost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64224" y="3081528"/>
            <a:ext cx="82296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6345936" y="299923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</a:rPr>
              <a:t>›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446520" y="1417320"/>
            <a:ext cx="1152144" cy="3337560"/>
          </a:xfrm>
          <a:prstGeom prst="roundRect">
            <a:avLst>
              <a:gd name="adj" fmla="val 7937"/>
            </a:avLst>
          </a:prstGeom>
          <a:solidFill>
            <a:srgbClr val="132036">
              <a:alpha val="80000"/>
            </a:srgbClr>
          </a:solidFill>
          <a:ln w="762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84848" y="155448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84848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446520" y="2121408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6483096" y="2578608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EEAD4"/>
                </a:solidFill>
              </a:rPr>
              <a:t>Evaluation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483096" y="3063240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ROC-AUC 0.847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483096" y="3493008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F1 0.567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483096" y="3922776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5-fold CV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607808" y="3081528"/>
            <a:ext cx="82296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dash"/>
          </a:ln>
        </p:spPr>
      </p:sp>
      <p:sp>
        <p:nvSpPr>
          <p:cNvPr id="65" name="Text 63"/>
          <p:cNvSpPr/>
          <p:nvPr/>
        </p:nvSpPr>
        <p:spPr>
          <a:xfrm>
            <a:off x="7589520" y="299923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</a:rPr>
              <a:t>›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690104" y="1417320"/>
            <a:ext cx="1152144" cy="3337560"/>
          </a:xfrm>
          <a:prstGeom prst="roundRect">
            <a:avLst>
              <a:gd name="adj" fmla="val 7937"/>
            </a:avLst>
          </a:prstGeom>
          <a:solidFill>
            <a:srgbClr val="132036">
              <a:alpha val="80000"/>
            </a:srgbClr>
          </a:solidFill>
          <a:ln w="762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028432" y="155448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028432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7690104" y="2121408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7726680" y="2578608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EEAD4"/>
                </a:solidFill>
              </a:rPr>
              <a:t>Business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7726680" y="3063240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Risk segments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726680" y="3493008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Retention sim.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726680" y="3922776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ROI 428K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churn_prediction.csv  →  Retention decisions  |  Net benefit: ~428,000 per test cohort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5544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55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EXPLORATORY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512064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Key Patterns in the Data</a:t>
            </a:r>
            <a:endParaRPr lang="en-US" sz="3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115568"/>
            <a:ext cx="8869680" cy="38587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5544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55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FEATURE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512064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Distributions — Stayed vs Churned</a:t>
            </a:r>
            <a:endParaRPr lang="en-US" sz="3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115568"/>
            <a:ext cx="8869680" cy="38587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5544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55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KEY FINDINGS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512064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4224528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188720"/>
            <a:ext cx="50292" cy="115214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353312"/>
            <a:ext cx="420624" cy="42062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131673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18.53% Churn 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1645920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5,260 / 28,382 clients left. 5:1 class imbalance → class_weight=balanced applied to all models.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36008" y="1188720"/>
            <a:ext cx="4224528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36008" y="1188720"/>
            <a:ext cx="50292" cy="11521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353312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30952" y="131673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Balance = #1 Predictor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30952" y="1645920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current_balance (RF importance 0.159) and balance_change (0.124) are the top two features. Withdrawing funds = churn signal.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2468880"/>
            <a:ext cx="4224528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468880"/>
            <a:ext cx="50292" cy="11521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63347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7824" y="259689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25–35 Age Group: 20.5%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" y="2926080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Highest churn cohort. Young professionals exploring competitor offers. Target with digital-first loyalty programs.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36008" y="2468880"/>
            <a:ext cx="4224528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2468880"/>
            <a:ext cx="50292" cy="11521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633472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30952" y="259689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Self-Employed: 19.8% Churn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30952" y="2926080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Highest risk occupation vs company clients at 10.0%. Needs dedicated SME product offering and pricing.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2880" y="3749040"/>
            <a:ext cx="4224528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3749040"/>
            <a:ext cx="50292" cy="115214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3913632"/>
            <a:ext cx="420624" cy="42062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7824" y="387705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Transaction Recency Signal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7824" y="4206240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Churned median: 33 days | Stayed: 45 days. Counter-intuitive — clients transact actively to close accounts.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36008" y="3749040"/>
            <a:ext cx="4224528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36008" y="3749040"/>
            <a:ext cx="50292" cy="11521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913632"/>
            <a:ext cx="420624" cy="42062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30952" y="387705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NW Category — Flat Pattern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30952" y="4206240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NW-1: 19.1%, NW-2: 17.9%, NW-3: 19.2%. Nearly identical — wealth category alone is NOT a reliable predictor.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114800" cy="41148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MODEL EVALUATION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Compared</a:t>
            </a:r>
            <a:endParaRPr lang="en-US" sz="3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170432"/>
            <a:ext cx="5623560" cy="3767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97880" y="11704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EAD4"/>
                </a:solidFill>
              </a:rPr>
              <a:t>Verified Metrics  (n=4,258)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897880" y="1554480"/>
            <a:ext cx="91440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5544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812280" y="1554480"/>
            <a:ext cx="658368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12280" y="155448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70648" y="1554480"/>
            <a:ext cx="658368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70648" y="155448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RF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129016" y="1554480"/>
            <a:ext cx="658368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29016" y="155448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GB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97880" y="1993392"/>
            <a:ext cx="914400" cy="475488"/>
          </a:xfrm>
          <a:prstGeom prst="rect">
            <a:avLst/>
          </a:prstGeom>
          <a:solidFill>
            <a:srgbClr val="132036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199339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4E8"/>
                </a:solidFill>
              </a:rPr>
              <a:t>Accuracy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12280" y="1993392"/>
            <a:ext cx="658368" cy="475488"/>
          </a:xfrm>
          <a:prstGeom prst="rect">
            <a:avLst/>
          </a:prstGeom>
          <a:solidFill>
            <a:srgbClr val="132036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2280" y="199339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4E8"/>
                </a:solidFill>
              </a:rPr>
              <a:t>77.4%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470648" y="1993392"/>
            <a:ext cx="658368" cy="475488"/>
          </a:xfrm>
          <a:prstGeom prst="rect">
            <a:avLst/>
          </a:prstGeom>
          <a:solidFill>
            <a:srgbClr val="132036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70648" y="199339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4E8"/>
                </a:solidFill>
              </a:rPr>
              <a:t>85.8%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129016" y="1993392"/>
            <a:ext cx="658368" cy="475488"/>
          </a:xfrm>
          <a:prstGeom prst="rect">
            <a:avLst/>
          </a:prstGeom>
          <a:solidFill>
            <a:srgbClr val="132036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29016" y="199339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4E8"/>
                </a:solidFill>
              </a:rPr>
              <a:t>86.4%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897880" y="2505456"/>
            <a:ext cx="91440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97880" y="25054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4E8"/>
                </a:solidFill>
              </a:rPr>
              <a:t>Precision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812280" y="2505456"/>
            <a:ext cx="658368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12280" y="250545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4E8"/>
                </a:solidFill>
              </a:rPr>
              <a:t>41.8%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470648" y="2505456"/>
            <a:ext cx="658368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70648" y="250545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4E8"/>
                </a:solidFill>
              </a:rPr>
              <a:t>63.2%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129016" y="2505456"/>
            <a:ext cx="658368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129016" y="250545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69.0% ✓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897880" y="3017520"/>
            <a:ext cx="914400" cy="475488"/>
          </a:xfrm>
          <a:prstGeom prst="rect">
            <a:avLst/>
          </a:prstGeom>
          <a:solidFill>
            <a:srgbClr val="132036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97880" y="3017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4E8"/>
                </a:solidFill>
              </a:rPr>
              <a:t>Recall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812280" y="3017520"/>
            <a:ext cx="658368" cy="475488"/>
          </a:xfrm>
          <a:prstGeom prst="rect">
            <a:avLst/>
          </a:prstGeom>
          <a:solidFill>
            <a:srgbClr val="132036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12280" y="301752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56.4% ✓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470648" y="3017520"/>
            <a:ext cx="658368" cy="475488"/>
          </a:xfrm>
          <a:prstGeom prst="rect">
            <a:avLst/>
          </a:prstGeom>
          <a:solidFill>
            <a:srgbClr val="132036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70648" y="301752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4E8"/>
                </a:solidFill>
              </a:rPr>
              <a:t>55.8%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129016" y="3017520"/>
            <a:ext cx="658368" cy="475488"/>
          </a:xfrm>
          <a:prstGeom prst="rect">
            <a:avLst/>
          </a:prstGeom>
          <a:solidFill>
            <a:srgbClr val="132036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129016" y="301752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4E8"/>
                </a:solidFill>
              </a:rPr>
              <a:t>48.2%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897880" y="3529584"/>
            <a:ext cx="91440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897880" y="352958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4E8"/>
                </a:solidFill>
              </a:rPr>
              <a:t>F1-Score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812280" y="3529584"/>
            <a:ext cx="658368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812280" y="352958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4E8"/>
                </a:solidFill>
              </a:rPr>
              <a:t>48.0%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470648" y="3529584"/>
            <a:ext cx="658368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470648" y="352958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59.3% ✓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8129016" y="3529584"/>
            <a:ext cx="658368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129016" y="352958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4E8"/>
                </a:solidFill>
              </a:rPr>
              <a:t>56.7%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897880" y="4041648"/>
            <a:ext cx="914400" cy="475488"/>
          </a:xfrm>
          <a:prstGeom prst="rect">
            <a:avLst/>
          </a:prstGeom>
          <a:solidFill>
            <a:srgbClr val="132036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897880" y="404164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4E8"/>
                </a:solidFill>
              </a:rPr>
              <a:t>ROC-AUC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6812280" y="4041648"/>
            <a:ext cx="658368" cy="475488"/>
          </a:xfrm>
          <a:prstGeom prst="rect">
            <a:avLst/>
          </a:prstGeom>
          <a:solidFill>
            <a:srgbClr val="132036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812280" y="404164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4E8"/>
                </a:solidFill>
              </a:rPr>
              <a:t>0.758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7470648" y="4041648"/>
            <a:ext cx="658368" cy="475488"/>
          </a:xfrm>
          <a:prstGeom prst="rect">
            <a:avLst/>
          </a:prstGeom>
          <a:solidFill>
            <a:srgbClr val="132036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470648" y="404164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4E8"/>
                </a:solidFill>
              </a:rPr>
              <a:t>0.841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129016" y="4041648"/>
            <a:ext cx="658368" cy="475488"/>
          </a:xfrm>
          <a:prstGeom prst="rect">
            <a:avLst/>
          </a:prstGeom>
          <a:solidFill>
            <a:srgbClr val="132036"/>
          </a:solidFill>
          <a:ln w="5080">
            <a:solidFill>
              <a:srgbClr val="0A162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129016" y="4041648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0.847 ★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5897880" y="4645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★ Best AUC  ✓ Best per metric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897880" y="4828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GB recommended: best AUC + precision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LR for max recall (fewest missed churners)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5544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55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TOP DRIVERS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512064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Drivers of Churn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877824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25880"/>
            <a:ext cx="402336" cy="40233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225296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current_balance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1609344"/>
            <a:ext cx="2035454" cy="164592"/>
          </a:xfrm>
          <a:prstGeom prst="rect">
            <a:avLst/>
          </a:prstGeom>
          <a:solidFill>
            <a:srgbClr val="E11D48">
              <a:alpha val="55000"/>
            </a:srgbClr>
          </a:solidFill>
          <a:ln w="12700">
            <a:solidFill>
              <a:srgbClr val="E11D48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093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RF importance: 0.159  (15.9%)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86200" y="12801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Clients with low / declining balance are most likely to leave. Key risk signal.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1947672"/>
            <a:ext cx="8778240" cy="6858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084832"/>
            <a:ext cx="402336" cy="40233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1984248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balance_change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" y="2368296"/>
            <a:ext cx="1587398" cy="164592"/>
          </a:xfrm>
          <a:prstGeom prst="rect">
            <a:avLst/>
          </a:prstGeom>
          <a:solidFill>
            <a:srgbClr val="E11D48">
              <a:alpha val="55000"/>
            </a:srgbClr>
          </a:solidFill>
          <a:ln w="12700">
            <a:solidFill>
              <a:srgbClr val="E11D48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36829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RF importance: 0.124  (12.4%)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86200" y="20391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Net withdrawal trend (current - prev month). Active outflow = imminent churn.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2706624"/>
            <a:ext cx="877824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843784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2743200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current_month_balance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77240" y="3127248"/>
            <a:ext cx="1075334" cy="164592"/>
          </a:xfrm>
          <a:prstGeom prst="rect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1272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RF importance: 0.084  ( 8.4%)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86200" y="279806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Month-end balance snapshot. Captures short-term financial disengagement.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3465576"/>
            <a:ext cx="8778240" cy="6858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602736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3502152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current_month_debit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77240" y="3886200"/>
            <a:ext cx="857707" cy="164592"/>
          </a:xfrm>
          <a:prstGeom prst="rect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3886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RF importance: 0.067  ( 6.7%)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86200" y="355701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High debit + low deposits = net outflow pattern. Client draining the account.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" y="4224528"/>
            <a:ext cx="877824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436168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4361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77240" y="4261104"/>
            <a:ext cx="2926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previous_month_debit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777240" y="4645152"/>
            <a:ext cx="742493" cy="164592"/>
          </a:xfrm>
          <a:prstGeom prst="rect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>
                <a:alpha val="5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6451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RF importance: 0.058  ( 5.8%)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886200" y="43159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Confirms debit trend over two consecutive months. Sustained withdrawal pattern.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5544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55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RISK SEGMENTATION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512064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Risk Segments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28600" y="11887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Gradient Boosting model  ·  P(churn) threshold tiers  ·  test set n=4,258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572768"/>
            <a:ext cx="8778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572768"/>
            <a:ext cx="5029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🟢  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011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 &lt; 0.25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57400" y="16276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3,365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057400" y="20299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Clients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66160" y="16276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79.0%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566160" y="20299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Share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74920" y="16276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8.0%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074920" y="20299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Churn Rate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92240" y="1664208"/>
            <a:ext cx="0" cy="54864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70078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👉 Standard service — no intervention needed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414016"/>
            <a:ext cx="8778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414016"/>
            <a:ext cx="5029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4871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🟡  MEDIUM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0896" y="2852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 0.25–0.50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57400" y="2468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2057400" y="28712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Clients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66160" y="2468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8.0%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3566160" y="28712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Share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74920" y="2468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40.6%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5074920" y="28712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Churn Rate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92240" y="2505456"/>
            <a:ext cx="0" cy="54864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5420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👉 Soft touch — personalised email / product recommendation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82880" y="3255264"/>
            <a:ext cx="8778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82880" y="3255264"/>
            <a:ext cx="50292" cy="7498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33284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🔴  HIGH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10896" y="36941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 0.50–0.75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057400" y="33101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2057400" y="371246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Clients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566160" y="33101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6.6%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3566160" y="371246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Share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74920" y="33101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58.6%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5074920" y="371246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Churn Rate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92240" y="3346704"/>
            <a:ext cx="0" cy="54864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3383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👉 Proactive call — discuss pain points, make tailored offer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82880" y="4096512"/>
            <a:ext cx="8778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82880" y="4096512"/>
            <a:ext cx="50292" cy="749808"/>
          </a:xfrm>
          <a:prstGeom prst="rect">
            <a:avLst/>
          </a:prstGeom>
          <a:solidFill>
            <a:srgbClr val="7C0A02"/>
          </a:solidFill>
          <a:ln w="12700">
            <a:solidFill>
              <a:srgbClr val="7C0A0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0896" y="41696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🚨  CRITICAL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10896" y="45354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 &gt; 0.75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057400" y="41513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</a:t>
            </a:r>
            <a:endParaRPr lang="en-US" sz="1900" dirty="0"/>
          </a:p>
        </p:txBody>
      </p:sp>
      <p:sp>
        <p:nvSpPr>
          <p:cNvPr id="48" name="Text 46"/>
          <p:cNvSpPr/>
          <p:nvPr/>
        </p:nvSpPr>
        <p:spPr>
          <a:xfrm>
            <a:off x="2057400" y="45537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Clients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566160" y="41513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6.4%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3566160" y="45537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Share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074920" y="41513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79.7%</a:t>
            </a:r>
            <a:endParaRPr lang="en-US" sz="1900" dirty="0"/>
          </a:p>
        </p:txBody>
      </p:sp>
      <p:sp>
        <p:nvSpPr>
          <p:cNvPr id="52" name="Text 50"/>
          <p:cNvSpPr/>
          <p:nvPr/>
        </p:nvSpPr>
        <p:spPr>
          <a:xfrm>
            <a:off x="5074920" y="45537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Churn Rate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492240" y="4187952"/>
            <a:ext cx="0" cy="54864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42245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👉 Urgent: personal manager call + fee waiver + premium upgrade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E11D48">
              <a:alpha val="8000"/>
            </a:srgbClr>
          </a:solidFill>
          <a:ln w="12700">
            <a:solidFill>
              <a:srgbClr val="E11D4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BUSINESS IMPACT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Economics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132036">
              <a:alpha val="80000"/>
            </a:srgbClr>
          </a:solidFill>
          <a:ln w="7620">
            <a:solidFill>
              <a:srgbClr val="5EEA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</a:rPr>
              <a:t>Simulation Assumptions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160934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• Monthly revenue / client retained: 500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8562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• Outreach cost per client contacted: 50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1031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• Retention success rate: 20%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350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• Segments targeted: High + Critical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4297680" cy="1463040"/>
          </a:xfrm>
          <a:prstGeom prst="roundRect">
            <a:avLst>
              <a:gd name="adj" fmla="val 6250"/>
            </a:avLst>
          </a:prstGeom>
          <a:solidFill>
            <a:srgbClr val="132036">
              <a:alpha val="80000"/>
            </a:srgbClr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2618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</a:rPr>
              <a:t>Simulation Results (test set)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16276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Clients at risk (High+Critical):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0" y="1627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551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09160" y="17876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Actual churners in those segments: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0" y="17876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380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9160" y="1947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Retained @ 20% success: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0" y="19476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76 clients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09160" y="21076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Annual revenue saved: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0" y="21076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456,000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2267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Outreach cost: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0" y="22677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27,550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24277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Net annual benefit: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0" y="24277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EEAD4"/>
                </a:solidFill>
              </a:rPr>
              <a:t>428,450 ✓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8346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6265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Net Benefit: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926080" y="287121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428,450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6126480" y="29992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per test cohort (4,258 clients) · annualised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160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Cost error analysis: 280 False Positives × 50 = 14,000 wasted outreach  |  Missed churners (FN): revenue opportunity cost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5544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55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RECOMMENDATIONS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512064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 Plan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4224528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188720"/>
            <a:ext cx="50292" cy="115214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353312"/>
            <a:ext cx="420624" cy="42062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131673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Weekly Churn Scoring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1645920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Deploy Gradient Boosting (AUC 0.847) for weekly automated scoring. Flag High+Critical clients (P &gt; 0.50) for outreach.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36008" y="1188720"/>
            <a:ext cx="4224528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36008" y="1188720"/>
            <a:ext cx="50292" cy="11521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353312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353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30952" y="131673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30-Day Inactivity Trigger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30952" y="1645920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No transaction in 30+ days → auto email or relationship manager call. Churned median is 33 days — catch them early.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2468880"/>
            <a:ext cx="4224528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468880"/>
            <a:ext cx="50292" cy="11521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63347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7824" y="259689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Low Balance Intervention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" y="2926080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Balance &lt; 500 clients → offer savings product, cashback, or fee waiver. Increase their financial stake in the bank.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36008" y="2468880"/>
            <a:ext cx="4224528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2468880"/>
            <a:ext cx="50292" cy="11521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633472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30952" y="259689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Self-Employed Program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30952" y="2926080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Develop dedicated SME offering: business credit, separate pricing, premium digital tools. Reduce 19.8% → &lt;17%.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2880" y="3749040"/>
            <a:ext cx="4224528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3749040"/>
            <a:ext cx="50292" cy="115214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3913632"/>
            <a:ext cx="420624" cy="42062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7824" y="387705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25–35 Loyalty Push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7824" y="4206240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Highest-risk cohort (20.5%). Target with digital-first loyalty program, higher savings rate, and referral bonuses.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36008" y="3749040"/>
            <a:ext cx="4224528" cy="11521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36008" y="3749040"/>
            <a:ext cx="50292" cy="11521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913632"/>
            <a:ext cx="420624" cy="42062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30952" y="3877056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Estimated Total Impact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30952" y="4206240"/>
            <a:ext cx="3419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3pp churn reduction ≈ 850 clients/year saved. At avg. CLV 50K → savings of 42.5M annually across the full portfolio.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5544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55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MODEL EXPLAINABILITY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512064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Model Predict Churn?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28600" y="11887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Feature importance with direction — SHAP-style analysis  ·  Red = pushes toward churn  ·  Teal = protects against churn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508760"/>
            <a:ext cx="8961120" cy="3474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600" y="4919472"/>
            <a:ext cx="8686800" cy="173736"/>
          </a:xfrm>
          <a:prstGeom prst="roundRect">
            <a:avLst>
              <a:gd name="adj" fmla="val 26316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491032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💡  SHAP package unavailable in this environment — direction encoded via feature–target Pearson correlation. Install shap for full SHAP TreeExplainer output.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PROFIT OPTIMIZATION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Profit-Based Threshold</a:t>
            </a:r>
            <a:endParaRPr lang="en-US" sz="3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1170432"/>
            <a:ext cx="8924544" cy="32186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480560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132036">
              <a:alpha val="8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4544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Formula:  profit = TP × 6,000 − (TP + FP) × 50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4480560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132036">
              <a:alpha val="8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2040" y="4544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Default t=0.50 profit: 2,234,600   →   Optimal t=0.11 profit: 3,791,400  (+70%)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5544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55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CROSS-VALIDATION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512064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Results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28600" y="11887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Stratified K-Fold on train set  ·  Ensures stable, unbiased metric estimates  ·  Baseline = random (stratified)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508760"/>
            <a:ext cx="8961120" cy="3337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600" y="4892040"/>
            <a:ext cx="8686800" cy="201168"/>
          </a:xfrm>
          <a:prstGeom prst="roundRect">
            <a:avLst>
              <a:gd name="adj" fmla="val 22727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💡  CV removes randomness from a single split. Gradient Boosting wins across all 5 folds — result is robust, not lucky.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743200" cy="2743200"/>
          </a:xfrm>
          <a:prstGeom prst="ellipse">
            <a:avLst/>
          </a:prstGeom>
          <a:solidFill>
            <a:srgbClr val="E11D48">
              <a:alpha val="8000"/>
            </a:srgbClr>
          </a:solidFill>
          <a:ln w="12700">
            <a:solidFill>
              <a:srgbClr val="E11D4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75488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SUMMARY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8229600" cy="493776"/>
          </a:xfrm>
          <a:prstGeom prst="rect">
            <a:avLst/>
          </a:prstGeom>
          <a:solidFill>
            <a:srgbClr val="132036">
              <a:alpha val="75000"/>
            </a:srgbClr>
          </a:solidFill>
          <a:ln w="635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64208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664208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28,382 real clients  ·  18.53% churn  ·  24 features engineered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8229600" cy="493776"/>
          </a:xfrm>
          <a:prstGeom prst="rect">
            <a:avLst/>
          </a:prstGeom>
          <a:solidFill>
            <a:srgbClr val="132036">
              <a:alpha val="75000"/>
            </a:srgbClr>
          </a:solidFill>
          <a:ln w="635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31136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231136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Gradient Boosting: best AUC 0.847 · Precision 69% · recommended for deployment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8229600" cy="493776"/>
          </a:xfrm>
          <a:prstGeom prst="rect">
            <a:avLst/>
          </a:prstGeom>
          <a:solidFill>
            <a:srgbClr val="132036">
              <a:alpha val="75000"/>
            </a:srgbClr>
          </a:solidFill>
          <a:ln w="635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98064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798064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Top drivers: account balance, balance change, debit activity, days since last tx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64992"/>
            <a:ext cx="8229600" cy="493776"/>
          </a:xfrm>
          <a:prstGeom prst="rect">
            <a:avLst/>
          </a:prstGeom>
          <a:solidFill>
            <a:srgbClr val="132036">
              <a:alpha val="75000"/>
            </a:srgbClr>
          </a:solidFill>
          <a:ln w="635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64992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364992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Risk segmentation: 551 High+Critical clients · 79.7% churn rate in Critical tier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493776"/>
          </a:xfrm>
          <a:prstGeom prst="rect">
            <a:avLst/>
          </a:prstGeom>
          <a:solidFill>
            <a:srgbClr val="132036">
              <a:alpha val="75000"/>
            </a:srgbClr>
          </a:solidFill>
          <a:ln w="6350">
            <a:solidFill>
              <a:srgbClr val="0D9488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31920"/>
            <a:ext cx="365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931920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Net retention benefit: 428,450 per cohort at 20% retention success rate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Data Analytics Team  ·  2026  ·  churn_prediction.csv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Customer Churn Analysis</dc:title>
  <dc:subject>PptxGenJS Presentation</dc:subject>
  <dc:creator>PptxGenJS</dc:creator>
  <cp:lastModifiedBy>PptxGenJS</cp:lastModifiedBy>
  <cp:revision>1</cp:revision>
  <dcterms:created xsi:type="dcterms:W3CDTF">2026-03-12T18:29:13Z</dcterms:created>
  <dcterms:modified xsi:type="dcterms:W3CDTF">2026-03-12T18:29:13Z</dcterms:modified>
</cp:coreProperties>
</file>